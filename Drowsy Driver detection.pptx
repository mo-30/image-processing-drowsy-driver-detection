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entury Gothic Paneuropean" panose="020B0604020202020204" charset="0"/>
      <p:regular r:id="rId10"/>
    </p:embeddedFont>
    <p:embeddedFont>
      <p:font typeface="Century Gothic Paneuropean Bold" panose="020B0604020202020204" charset="0"/>
      <p:regular r:id="rId11"/>
    </p:embeddedFont>
    <p:embeddedFont>
      <p:font typeface="Open Sans" panose="020B0606030504020204" pitchFamily="3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4754" y="710460"/>
            <a:ext cx="13018493" cy="4344644"/>
          </a:xfrm>
          <a:prstGeom prst="rect">
            <a:avLst/>
          </a:prstGeom>
        </p:spPr>
        <p:txBody>
          <a:bodyPr lIns="0" tIns="0" rIns="0" bIns="0" rtlCol="0" anchor="t">
            <a:spAutoFit/>
          </a:bodyPr>
          <a:lstStyle/>
          <a:p>
            <a:pPr algn="ctr">
              <a:lnSpc>
                <a:spcPts val="17489"/>
              </a:lnSpc>
            </a:pPr>
            <a:r>
              <a:rPr lang="en-US" sz="12492" b="1">
                <a:solidFill>
                  <a:srgbClr val="000000"/>
                </a:solidFill>
                <a:latin typeface="Century Gothic Paneuropean Bold"/>
                <a:ea typeface="Century Gothic Paneuropean Bold"/>
                <a:cs typeface="Century Gothic Paneuropean Bold"/>
                <a:sym typeface="Century Gothic Paneuropean Bold"/>
              </a:rPr>
              <a:t>DROWSY DRIVER</a:t>
            </a:r>
          </a:p>
          <a:p>
            <a:pPr algn="ctr">
              <a:lnSpc>
                <a:spcPts val="17489"/>
              </a:lnSpc>
            </a:pPr>
            <a:r>
              <a:rPr lang="en-US" sz="12492" b="1">
                <a:solidFill>
                  <a:srgbClr val="000000"/>
                </a:solidFill>
                <a:latin typeface="Century Gothic Paneuropean Bold"/>
                <a:ea typeface="Century Gothic Paneuropean Bold"/>
                <a:cs typeface="Century Gothic Paneuropean Bold"/>
                <a:sym typeface="Century Gothic Paneuropean Bold"/>
              </a:rPr>
              <a:t>DETECTION</a:t>
            </a:r>
          </a:p>
        </p:txBody>
      </p:sp>
      <p:sp>
        <p:nvSpPr>
          <p:cNvPr id="3" name="TextBox 3"/>
          <p:cNvSpPr txBox="1"/>
          <p:nvPr/>
        </p:nvSpPr>
        <p:spPr>
          <a:xfrm>
            <a:off x="2634754" y="5200799"/>
            <a:ext cx="12374663" cy="4333525"/>
          </a:xfrm>
          <a:prstGeom prst="rect">
            <a:avLst/>
          </a:prstGeom>
        </p:spPr>
        <p:txBody>
          <a:bodyPr lIns="0" tIns="0" rIns="0" bIns="0" rtlCol="0" anchor="t">
            <a:spAutoFit/>
          </a:bodyPr>
          <a:lstStyle/>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presented By :Mohamed Sherif</a:t>
            </a:r>
          </a:p>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Mohamed Osama</a:t>
            </a:r>
          </a:p>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Ali Zorkany</a:t>
            </a:r>
          </a:p>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Yousef el Ghazali</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875411" y="574900"/>
            <a:ext cx="8537178" cy="1392115"/>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INTRODUCTION</a:t>
            </a:r>
          </a:p>
        </p:txBody>
      </p:sp>
      <p:sp>
        <p:nvSpPr>
          <p:cNvPr id="9" name="TextBox 9"/>
          <p:cNvSpPr txBox="1"/>
          <p:nvPr/>
        </p:nvSpPr>
        <p:spPr>
          <a:xfrm>
            <a:off x="2918326" y="2902338"/>
            <a:ext cx="12454772" cy="5717787"/>
          </a:xfrm>
          <a:prstGeom prst="rect">
            <a:avLst/>
          </a:prstGeom>
        </p:spPr>
        <p:txBody>
          <a:bodyPr lIns="0" tIns="0" rIns="0" bIns="0" rtlCol="0" anchor="t">
            <a:spAutoFit/>
          </a:bodyPr>
          <a:lstStyle/>
          <a:p>
            <a:pPr algn="ctr">
              <a:lnSpc>
                <a:spcPts val="5096"/>
              </a:lnSpc>
            </a:pPr>
            <a:r>
              <a:rPr lang="en-US" sz="3640">
                <a:solidFill>
                  <a:srgbClr val="000000"/>
                </a:solidFill>
                <a:latin typeface="Century Gothic Paneuropean"/>
                <a:ea typeface="Century Gothic Paneuropean"/>
                <a:cs typeface="Century Gothic Paneuropean"/>
                <a:sym typeface="Century Gothic Paneuropean"/>
              </a:rPr>
              <a:t>In this project, we developed a drowsy driver detection system using traditional image processing techniques and facial landmark analysis. The system monitors the eyes and mouth in driver images to compute EAR (Eye Aspect Ratio) and MAR (Mouth Aspect Ratio), which are key indicators of drowsiness. This solution runs on a Jupyter Notebook and demonstrates how computer vision techniques can contribute to road safety</a:t>
            </a: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99589" y="-152400"/>
            <a:ext cx="16384740" cy="1395104"/>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TECHNOLOGIES  &amp; LIBRARIES</a:t>
            </a:r>
          </a:p>
        </p:txBody>
      </p:sp>
      <p:sp>
        <p:nvSpPr>
          <p:cNvPr id="3" name="TextBox 3"/>
          <p:cNvSpPr txBox="1"/>
          <p:nvPr/>
        </p:nvSpPr>
        <p:spPr>
          <a:xfrm>
            <a:off x="1216107" y="1323129"/>
            <a:ext cx="17766686" cy="9546837"/>
          </a:xfrm>
          <a:prstGeom prst="rect">
            <a:avLst/>
          </a:prstGeom>
        </p:spPr>
        <p:txBody>
          <a:bodyPr lIns="0" tIns="0" rIns="0" bIns="0" rtlCol="0" anchor="t">
            <a:spAutoFit/>
          </a:bodyPr>
          <a:lstStyle/>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Python: programming language</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OpenCV:  Image enhancement (CLAHE, grayscale) and visualization.</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NumPy: Numerical operations and geometry calculations</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Matplotlib: Displaying processed images in the notebook.</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Pandas: Data handling and analysis </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glob: Reading multiple image files efficiently.</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MediaPipe: Real-time face mesh detection and landmark extraction.</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9951066" y="1892869"/>
            <a:ext cx="7308234" cy="7910975"/>
          </a:xfrm>
          <a:custGeom>
            <a:avLst/>
            <a:gdLst/>
            <a:ahLst/>
            <a:cxnLst/>
            <a:rect l="l" t="t" r="r" b="b"/>
            <a:pathLst>
              <a:path w="7308234" h="7910975">
                <a:moveTo>
                  <a:pt x="0" y="0"/>
                </a:moveTo>
                <a:lnTo>
                  <a:pt x="7308234" y="0"/>
                </a:lnTo>
                <a:lnTo>
                  <a:pt x="7308234" y="7910974"/>
                </a:lnTo>
                <a:lnTo>
                  <a:pt x="0" y="7910974"/>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2681877" y="254948"/>
            <a:ext cx="12924246" cy="1395104"/>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MEDIAPIPE LANDMARKS</a:t>
            </a:r>
          </a:p>
        </p:txBody>
      </p:sp>
      <p:sp>
        <p:nvSpPr>
          <p:cNvPr id="15" name="TextBox 15"/>
          <p:cNvSpPr txBox="1"/>
          <p:nvPr/>
        </p:nvSpPr>
        <p:spPr>
          <a:xfrm>
            <a:off x="1028700" y="3348198"/>
            <a:ext cx="8922366" cy="6155975"/>
          </a:xfrm>
          <a:prstGeom prst="rect">
            <a:avLst/>
          </a:prstGeom>
        </p:spPr>
        <p:txBody>
          <a:bodyPr lIns="0" tIns="0" rIns="0" bIns="0" rtlCol="0" anchor="t">
            <a:spAutoFit/>
          </a:bodyPr>
          <a:lstStyle/>
          <a:p>
            <a:pPr algn="ctr">
              <a:lnSpc>
                <a:spcPts val="4478"/>
              </a:lnSpc>
              <a:spcBef>
                <a:spcPct val="0"/>
              </a:spcBef>
            </a:pPr>
            <a:endParaRPr/>
          </a:p>
          <a:p>
            <a:pPr marL="690689" lvl="1" indent="-345344" algn="l">
              <a:lnSpc>
                <a:spcPts val="4478"/>
              </a:lnSpc>
              <a:buFont typeface="Arial"/>
              <a:buChar char="•"/>
            </a:pPr>
            <a:r>
              <a:rPr lang="en-US" sz="3199">
                <a:solidFill>
                  <a:srgbClr val="000000"/>
                </a:solidFill>
                <a:latin typeface="Open Sans"/>
                <a:ea typeface="Open Sans"/>
                <a:cs typeface="Open Sans"/>
                <a:sym typeface="Open Sans"/>
              </a:rPr>
              <a:t>MediaPipe is an open-source framework by Google that provides real-time face and hand landmark detection</a:t>
            </a:r>
          </a:p>
          <a:p>
            <a:pPr algn="l">
              <a:lnSpc>
                <a:spcPts val="4478"/>
              </a:lnSpc>
            </a:pPr>
            <a:endParaRPr lang="en-US" sz="3199">
              <a:solidFill>
                <a:srgbClr val="000000"/>
              </a:solidFill>
              <a:latin typeface="Open Sans"/>
              <a:ea typeface="Open Sans"/>
              <a:cs typeface="Open Sans"/>
              <a:sym typeface="Open Sans"/>
            </a:endParaRPr>
          </a:p>
          <a:p>
            <a:pPr algn="l">
              <a:lnSpc>
                <a:spcPts val="4478"/>
              </a:lnSpc>
            </a:pPr>
            <a:r>
              <a:rPr lang="en-US" sz="3199">
                <a:solidFill>
                  <a:srgbClr val="000000"/>
                </a:solidFill>
                <a:latin typeface="Open Sans"/>
                <a:ea typeface="Open Sans"/>
                <a:cs typeface="Open Sans"/>
                <a:sym typeface="Open Sans"/>
              </a:rPr>
              <a:t>In our project:</a:t>
            </a:r>
          </a:p>
          <a:p>
            <a:pPr marL="690689" lvl="1" indent="-345344" algn="l">
              <a:lnSpc>
                <a:spcPts val="4478"/>
              </a:lnSpc>
              <a:buFont typeface="Arial"/>
              <a:buChar char="•"/>
            </a:pPr>
            <a:r>
              <a:rPr lang="en-US" sz="3199">
                <a:solidFill>
                  <a:srgbClr val="000000"/>
                </a:solidFill>
                <a:latin typeface="Open Sans"/>
                <a:ea typeface="Open Sans"/>
                <a:cs typeface="Open Sans"/>
                <a:sym typeface="Open Sans"/>
              </a:rPr>
              <a:t>It was used to locate eye and mouth landmarks.</a:t>
            </a:r>
          </a:p>
          <a:p>
            <a:pPr marL="690689" lvl="1" indent="-345344" algn="l">
              <a:lnSpc>
                <a:spcPts val="4478"/>
              </a:lnSpc>
              <a:buFont typeface="Arial"/>
              <a:buChar char="•"/>
            </a:pPr>
            <a:r>
              <a:rPr lang="en-US" sz="3199">
                <a:solidFill>
                  <a:srgbClr val="000000"/>
                </a:solidFill>
                <a:latin typeface="Open Sans"/>
                <a:ea typeface="Open Sans"/>
                <a:cs typeface="Open Sans"/>
                <a:sym typeface="Open Sans"/>
              </a:rPr>
              <a:t>We used those coordinates to calculate EAR and MAR.</a:t>
            </a:r>
          </a:p>
          <a:p>
            <a:pPr algn="l">
              <a:lnSpc>
                <a:spcPts val="4478"/>
              </a:lnSpc>
            </a:pPr>
            <a:endParaRPr lang="en-US" sz="3199">
              <a:solidFill>
                <a:srgbClr val="000000"/>
              </a:solidFill>
              <a:latin typeface="Open Sans"/>
              <a:ea typeface="Open Sans"/>
              <a:cs typeface="Open Sans"/>
              <a:sym typeface="Open Sans"/>
            </a:endParaRPr>
          </a:p>
        </p:txBody>
      </p:sp>
      <p:sp>
        <p:nvSpPr>
          <p:cNvPr id="16" name="TextBox 16"/>
          <p:cNvSpPr txBox="1"/>
          <p:nvPr/>
        </p:nvSpPr>
        <p:spPr>
          <a:xfrm>
            <a:off x="318" y="2200894"/>
            <a:ext cx="5724524" cy="865799"/>
          </a:xfrm>
          <a:prstGeom prst="rect">
            <a:avLst/>
          </a:prstGeom>
        </p:spPr>
        <p:txBody>
          <a:bodyPr lIns="0" tIns="0" rIns="0" bIns="0" rtlCol="0" anchor="t">
            <a:spAutoFit/>
          </a:bodyPr>
          <a:lstStyle/>
          <a:p>
            <a:pPr algn="ctr">
              <a:lnSpc>
                <a:spcPts val="7100"/>
              </a:lnSpc>
              <a:spcBef>
                <a:spcPct val="0"/>
              </a:spcBef>
            </a:pPr>
            <a:r>
              <a:rPr lang="en-US" sz="5071">
                <a:solidFill>
                  <a:srgbClr val="000000"/>
                </a:solidFill>
                <a:latin typeface="Open Sans"/>
                <a:ea typeface="Open Sans"/>
                <a:cs typeface="Open Sans"/>
                <a:sym typeface="Open Sans"/>
              </a:rPr>
              <a:t>What is Mediapipe: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75411" y="336272"/>
            <a:ext cx="8537178" cy="1395104"/>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WORKFLOW</a:t>
            </a:r>
          </a:p>
        </p:txBody>
      </p:sp>
      <p:sp>
        <p:nvSpPr>
          <p:cNvPr id="3" name="TextBox 3"/>
          <p:cNvSpPr txBox="1"/>
          <p:nvPr/>
        </p:nvSpPr>
        <p:spPr>
          <a:xfrm>
            <a:off x="1963209" y="2171531"/>
            <a:ext cx="14281321" cy="5717787"/>
          </a:xfrm>
          <a:prstGeom prst="rect">
            <a:avLst/>
          </a:prstGeom>
        </p:spPr>
        <p:txBody>
          <a:bodyPr lIns="0" tIns="0" rIns="0" bIns="0" rtlCol="0" anchor="t">
            <a:spAutoFit/>
          </a:bodyPr>
          <a:lstStyle/>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Load image dataset</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Grayscale conversion &amp; brightness-based enhancement</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CLAHE used for dark images.</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Histogram Equalization used for others.</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Detect facial landmarks using MediaPipe</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Calculate EAR &amp; MAR</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Classify as Drowsy or Alert</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Display bounding boxes and labels on images</a:t>
            </a:r>
          </a:p>
          <a:p>
            <a:pPr algn="l">
              <a:lnSpc>
                <a:spcPts val="5096"/>
              </a:lnSpc>
            </a:pPr>
            <a:endParaRPr lang="en-US" sz="364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7884" y="571911"/>
            <a:ext cx="15938505" cy="1392115"/>
          </a:xfrm>
          <a:prstGeom prst="rect">
            <a:avLst/>
          </a:prstGeom>
        </p:spPr>
        <p:txBody>
          <a:bodyPr lIns="0" tIns="0" rIns="0" bIns="0" rtlCol="0" anchor="t">
            <a:spAutoFit/>
          </a:bodyPr>
          <a:lstStyle/>
          <a:p>
            <a:pPr algn="ctr">
              <a:lnSpc>
                <a:spcPts val="11469"/>
              </a:lnSpc>
            </a:pPr>
            <a:r>
              <a:rPr lang="en-US" sz="8192" b="1">
                <a:solidFill>
                  <a:srgbClr val="5271FF"/>
                </a:solidFill>
                <a:latin typeface="Century Gothic Paneuropean Bold"/>
                <a:ea typeface="Century Gothic Paneuropean Bold"/>
                <a:cs typeface="Century Gothic Paneuropean Bold"/>
                <a:sym typeface="Century Gothic Paneuropean Bold"/>
              </a:rPr>
              <a:t>CHALLENGES </a:t>
            </a:r>
            <a:r>
              <a:rPr lang="en-US" sz="8192" b="1">
                <a:solidFill>
                  <a:srgbClr val="000000"/>
                </a:solidFill>
                <a:latin typeface="Century Gothic Paneuropean Bold"/>
                <a:ea typeface="Century Gothic Paneuropean Bold"/>
                <a:cs typeface="Century Gothic Paneuropean Bold"/>
                <a:sym typeface="Century Gothic Paneuropean Bold"/>
              </a:rPr>
              <a:t>&amp; SOLUTIONS</a:t>
            </a:r>
          </a:p>
        </p:txBody>
      </p:sp>
      <p:sp>
        <p:nvSpPr>
          <p:cNvPr id="3" name="TextBox 3"/>
          <p:cNvSpPr txBox="1"/>
          <p:nvPr/>
        </p:nvSpPr>
        <p:spPr>
          <a:xfrm>
            <a:off x="838200" y="2599493"/>
            <a:ext cx="14977084" cy="5539402"/>
          </a:xfrm>
          <a:prstGeom prst="rect">
            <a:avLst/>
          </a:prstGeom>
        </p:spPr>
        <p:txBody>
          <a:bodyPr wrap="square" lIns="0" tIns="0" rIns="0" bIns="0" rtlCol="0" anchor="t">
            <a:spAutoFit/>
          </a:bodyPr>
          <a:lstStyle/>
          <a:p>
            <a:pPr>
              <a:lnSpc>
                <a:spcPts val="4480"/>
              </a:lnSpc>
            </a:pPr>
            <a:r>
              <a:rPr lang="en-US" sz="3200" dirty="0">
                <a:solidFill>
                  <a:srgbClr val="5271FF"/>
                </a:solidFill>
                <a:latin typeface="Century Gothic Paneuropean"/>
                <a:ea typeface="Century Gothic Paneuropean"/>
                <a:cs typeface="Century Gothic Paneuropean"/>
                <a:sym typeface="Century Gothic Paneuropean"/>
              </a:rPr>
              <a:t> </a:t>
            </a:r>
            <a:r>
              <a:rPr lang="en-US" sz="3200" dirty="0">
                <a:solidFill>
                  <a:schemeClr val="accent1"/>
                </a:solidFill>
                <a:latin typeface="Century Gothic Paneuropean"/>
                <a:ea typeface="Century Gothic Paneuropean"/>
                <a:cs typeface="Century Gothic Paneuropean"/>
                <a:sym typeface="Century Gothic Paneuropean"/>
              </a:rPr>
              <a:t>Challenge: </a:t>
            </a:r>
            <a:r>
              <a:rPr lang="en-US" sz="3200" dirty="0">
                <a:solidFill>
                  <a:srgbClr val="5271FF"/>
                </a:solidFill>
                <a:latin typeface="Century Gothic Paneuropean"/>
                <a:ea typeface="Century Gothic Paneuropean"/>
                <a:cs typeface="Century Gothic Paneuropean"/>
                <a:sym typeface="Century Gothic Paneuropean"/>
              </a:rPr>
              <a:t>- </a:t>
            </a:r>
            <a:r>
              <a:rPr lang="en-US" sz="3200" dirty="0">
                <a:solidFill>
                  <a:schemeClr val="accent1"/>
                </a:solidFill>
              </a:rPr>
              <a:t>Varying Lighting Conditions</a:t>
            </a:r>
            <a:endParaRPr lang="en-US" sz="3200" dirty="0">
              <a:solidFill>
                <a:schemeClr val="accent1"/>
              </a:solidFill>
              <a:latin typeface="Century Gothic Paneuropean"/>
              <a:ea typeface="Century Gothic Paneuropean"/>
              <a:cs typeface="Century Gothic Paneuropean"/>
              <a:sym typeface="Century Gothic Paneuropean"/>
            </a:endParaRPr>
          </a:p>
          <a:p>
            <a:pPr>
              <a:lnSpc>
                <a:spcPts val="4480"/>
              </a:lnSpc>
            </a:pPr>
            <a:r>
              <a:rPr lang="en-US" sz="3200" dirty="0">
                <a:solidFill>
                  <a:srgbClr val="000000"/>
                </a:solidFill>
                <a:latin typeface="Century Gothic Paneuropean"/>
                <a:ea typeface="Century Gothic Paneuropean"/>
                <a:cs typeface="Century Gothic Paneuropean"/>
                <a:sym typeface="Century Gothic Paneuropean"/>
              </a:rPr>
              <a:t>                     </a:t>
            </a:r>
            <a:r>
              <a:rPr lang="en-US" sz="3200" dirty="0">
                <a:solidFill>
                  <a:srgbClr val="5271FF"/>
                </a:solidFill>
                <a:latin typeface="Century Gothic Paneuropean"/>
                <a:ea typeface="Century Gothic Paneuropean"/>
                <a:cs typeface="Century Gothic Paneuropean"/>
                <a:sym typeface="Century Gothic Paneuropean"/>
              </a:rPr>
              <a:t>- </a:t>
            </a:r>
            <a:r>
              <a:rPr lang="en-US" sz="3200" dirty="0">
                <a:solidFill>
                  <a:schemeClr val="accent1"/>
                </a:solidFill>
              </a:rPr>
              <a:t>Landmark Detection Accuracy</a:t>
            </a:r>
            <a:endParaRPr lang="en-US" sz="3200" dirty="0">
              <a:solidFill>
                <a:schemeClr val="accent1"/>
              </a:solidFill>
              <a:latin typeface="Century Gothic Paneuropean"/>
              <a:ea typeface="Century Gothic Paneuropean"/>
              <a:cs typeface="Century Gothic Paneuropean"/>
              <a:sym typeface="Century Gothic Paneuropean"/>
            </a:endParaRPr>
          </a:p>
          <a:p>
            <a:pPr>
              <a:lnSpc>
                <a:spcPts val="4480"/>
              </a:lnSpc>
            </a:pPr>
            <a:endParaRPr lang="en-US" sz="3200" dirty="0">
              <a:solidFill>
                <a:srgbClr val="5271FF"/>
              </a:solidFill>
              <a:latin typeface="Century Gothic Paneuropean"/>
              <a:ea typeface="Century Gothic Paneuropean"/>
              <a:cs typeface="Century Gothic Paneuropean"/>
              <a:sym typeface="Century Gothic Paneuropean"/>
            </a:endParaRPr>
          </a:p>
          <a:p>
            <a:pPr algn="l">
              <a:lnSpc>
                <a:spcPts val="5040"/>
              </a:lnSpc>
            </a:pPr>
            <a:r>
              <a:rPr lang="en-US" sz="3600" dirty="0">
                <a:solidFill>
                  <a:srgbClr val="000000"/>
                </a:solidFill>
                <a:latin typeface="Century Gothic Paneuropean"/>
                <a:ea typeface="Century Gothic Paneuropean"/>
                <a:cs typeface="Century Gothic Paneuropean"/>
                <a:sym typeface="Century Gothic Paneuropean"/>
              </a:rPr>
              <a:t>Solution: </a:t>
            </a:r>
          </a:p>
          <a:p>
            <a:pPr>
              <a:lnSpc>
                <a:spcPts val="5040"/>
              </a:lnSpc>
            </a:pPr>
            <a:r>
              <a:rPr lang="en-US" sz="3600" dirty="0">
                <a:solidFill>
                  <a:srgbClr val="000000"/>
                </a:solidFill>
                <a:latin typeface="Century Gothic Paneuropean"/>
                <a:ea typeface="Century Gothic Paneuropean"/>
                <a:cs typeface="Century Gothic Paneuropean"/>
                <a:sym typeface="Century Gothic Paneuropean"/>
              </a:rPr>
              <a:t>    - </a:t>
            </a:r>
            <a:r>
              <a:rPr lang="en-US" sz="3600" dirty="0"/>
              <a:t>Applied </a:t>
            </a:r>
            <a:r>
              <a:rPr lang="en-US" sz="3600" b="1" dirty="0"/>
              <a:t>CLAHE (Contrast Limited Adaptive Histogram Equalization)</a:t>
            </a:r>
            <a:r>
              <a:rPr lang="en-US" sz="3600" dirty="0"/>
              <a:t> to enhance local contrast in grayscale images.</a:t>
            </a:r>
          </a:p>
          <a:p>
            <a:pPr>
              <a:lnSpc>
                <a:spcPts val="5040"/>
              </a:lnSpc>
            </a:pPr>
            <a:r>
              <a:rPr lang="en-US" sz="3600" dirty="0">
                <a:solidFill>
                  <a:srgbClr val="000000"/>
                </a:solidFill>
                <a:latin typeface="Century Gothic Paneuropean"/>
                <a:ea typeface="Century Gothic Paneuropean"/>
                <a:cs typeface="Century Gothic Paneuropean"/>
                <a:sym typeface="Century Gothic Paneuropean"/>
              </a:rPr>
              <a:t>   - </a:t>
            </a:r>
            <a:r>
              <a:rPr lang="en-US" sz="3600" dirty="0"/>
              <a:t>Used </a:t>
            </a:r>
            <a:r>
              <a:rPr lang="en-US" sz="3600" b="1" dirty="0"/>
              <a:t>adaptive gamma correction</a:t>
            </a:r>
            <a:r>
              <a:rPr lang="en-US" sz="3600" dirty="0"/>
              <a:t> to balance brightness dynamically</a:t>
            </a:r>
          </a:p>
          <a:p>
            <a:pPr>
              <a:lnSpc>
                <a:spcPts val="5040"/>
              </a:lnSpc>
            </a:pPr>
            <a:r>
              <a:rPr lang="en-US" sz="3600" dirty="0">
                <a:solidFill>
                  <a:srgbClr val="000000"/>
                </a:solidFill>
                <a:latin typeface="Century Gothic Paneuropean"/>
                <a:ea typeface="Century Gothic Paneuropean"/>
                <a:cs typeface="Century Gothic Paneuropean"/>
                <a:sym typeface="Century Gothic Paneuropean"/>
              </a:rPr>
              <a:t>   - </a:t>
            </a:r>
            <a:r>
              <a:rPr lang="en-US" sz="3600" dirty="0"/>
              <a:t>Averaged EAR and MAR over multiple images per person to compute </a:t>
            </a:r>
            <a:r>
              <a:rPr lang="en-US" sz="3600" b="1" dirty="0"/>
              <a:t>adaptive thresholds</a:t>
            </a:r>
            <a:r>
              <a:rPr lang="en-US" sz="3600" dirty="0"/>
              <a:t> for classification.</a:t>
            </a:r>
            <a:r>
              <a:rPr lang="en-US" sz="3600" dirty="0">
                <a:solidFill>
                  <a:srgbClr val="000000"/>
                </a:solidFill>
                <a:latin typeface="Century Gothic Paneuropean"/>
                <a:ea typeface="Century Gothic Paneuropean"/>
                <a:cs typeface="Century Gothic Paneuropean"/>
                <a:sym typeface="Century Gothic Paneuropean"/>
              </a:rPr>
              <a:t>    </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75411" y="254948"/>
            <a:ext cx="8537178" cy="1395104"/>
          </a:xfrm>
          <a:prstGeom prst="rect">
            <a:avLst/>
          </a:prstGeom>
        </p:spPr>
        <p:txBody>
          <a:bodyPr lIns="0" tIns="0" rIns="0" bIns="0" rtlCol="0" anchor="t">
            <a:spAutoFit/>
          </a:bodyPr>
          <a:lstStyle/>
          <a:p>
            <a:pPr algn="ctr">
              <a:lnSpc>
                <a:spcPts val="11469"/>
              </a:lnSpc>
            </a:pPr>
            <a:r>
              <a:rPr lang="en-US" sz="8192" b="1" dirty="0">
                <a:solidFill>
                  <a:srgbClr val="000000"/>
                </a:solidFill>
                <a:latin typeface="Century Gothic Paneuropean Bold"/>
                <a:ea typeface="Century Gothic Paneuropean Bold"/>
                <a:cs typeface="Century Gothic Paneuropean Bold"/>
                <a:sym typeface="Century Gothic Paneuropean Bold"/>
              </a:rPr>
              <a:t>CONCLUSION</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6">
            <a:extLst>
              <a:ext uri="{FF2B5EF4-FFF2-40B4-BE49-F238E27FC236}">
                <a16:creationId xmlns:a16="http://schemas.microsoft.com/office/drawing/2014/main" id="{75F5CD2C-D3BF-2EF4-2C5F-BE0832DF0E6A}"/>
              </a:ext>
            </a:extLst>
          </p:cNvPr>
          <p:cNvSpPr txBox="1"/>
          <p:nvPr/>
        </p:nvSpPr>
        <p:spPr>
          <a:xfrm>
            <a:off x="1219200" y="2143345"/>
            <a:ext cx="15163800" cy="7294305"/>
          </a:xfrm>
          <a:prstGeom prst="rect">
            <a:avLst/>
          </a:prstGeom>
          <a:noFill/>
        </p:spPr>
        <p:txBody>
          <a:bodyPr wrap="square" rtlCol="0">
            <a:spAutoFit/>
          </a:bodyPr>
          <a:lstStyle/>
          <a:p>
            <a:pPr marL="457200" indent="-457200">
              <a:buFontTx/>
              <a:buChar char="-"/>
            </a:pPr>
            <a:r>
              <a:rPr lang="en-US" sz="3600" dirty="0">
                <a:latin typeface="Times New Roman" panose="02020603050405020304" pitchFamily="18" charset="0"/>
                <a:cs typeface="Times New Roman" panose="02020603050405020304" pitchFamily="18" charset="0"/>
              </a:rPr>
              <a:t>We developed a facial-landmark-based drowsiness detection system using static images.</a:t>
            </a:r>
          </a:p>
          <a:p>
            <a:pPr marL="457200" indent="-457200">
              <a:buFontTx/>
              <a:buChar char="-"/>
            </a:pPr>
            <a:r>
              <a:rPr lang="en-US" sz="3600" dirty="0"/>
              <a:t>The system calculated </a:t>
            </a:r>
            <a:r>
              <a:rPr lang="en-US" sz="3600" b="1" dirty="0"/>
              <a:t>EAR (Eye Aspect Ratio)</a:t>
            </a:r>
            <a:r>
              <a:rPr lang="en-US" sz="3600" dirty="0"/>
              <a:t> and </a:t>
            </a:r>
            <a:r>
              <a:rPr lang="en-US" sz="3600" b="1" dirty="0"/>
              <a:t>MAR (Mouth Aspect Ratio)</a:t>
            </a:r>
            <a:r>
              <a:rPr lang="en-US" sz="3600" dirty="0"/>
              <a:t> from facial landmarks to detect </a:t>
            </a:r>
            <a:r>
              <a:rPr lang="en-US" sz="3600" b="1" dirty="0"/>
              <a:t>closed eyes</a:t>
            </a:r>
            <a:r>
              <a:rPr lang="en-US" sz="3600" dirty="0"/>
              <a:t> and </a:t>
            </a:r>
            <a:r>
              <a:rPr lang="en-US" sz="3600" b="1" dirty="0"/>
              <a:t>yawning</a:t>
            </a:r>
            <a:r>
              <a:rPr lang="en-US" sz="3600" dirty="0"/>
              <a:t>.</a:t>
            </a:r>
          </a:p>
          <a:p>
            <a:pPr marL="457200" indent="-457200">
              <a:buFontTx/>
              <a:buChar char="-"/>
            </a:pPr>
            <a:r>
              <a:rPr lang="en-US" sz="3600" dirty="0"/>
              <a:t>We improved facial landmark detection using </a:t>
            </a:r>
            <a:r>
              <a:rPr lang="en-US" sz="3600" b="1" dirty="0"/>
              <a:t>image preprocessing techniques</a:t>
            </a:r>
            <a:r>
              <a:rPr lang="en-US" sz="3600" dirty="0"/>
              <a:t> like CLAHE and gamma correction.</a:t>
            </a:r>
          </a:p>
          <a:p>
            <a:pPr marL="457200" indent="-457200">
              <a:buFontTx/>
              <a:buChar char="-"/>
            </a:pPr>
            <a:r>
              <a:rPr lang="en-US" sz="3600" dirty="0"/>
              <a:t>For each person, </a:t>
            </a:r>
            <a:r>
              <a:rPr lang="en-US" sz="3600" b="1" dirty="0"/>
              <a:t>adaptive thresholds</a:t>
            </a:r>
            <a:r>
              <a:rPr lang="en-US" sz="3600" dirty="0"/>
              <a:t> were used to improve classification accuracy.</a:t>
            </a:r>
          </a:p>
          <a:p>
            <a:pPr marL="457200" indent="-457200">
              <a:buFontTx/>
              <a:buChar char="-"/>
            </a:pPr>
            <a:r>
              <a:rPr lang="en-US" sz="3600" dirty="0"/>
              <a:t>Our approach shows how </a:t>
            </a:r>
            <a:r>
              <a:rPr lang="en-US" sz="3600" b="1" dirty="0"/>
              <a:t>classical computer vision + </a:t>
            </a:r>
            <a:r>
              <a:rPr lang="en-US" sz="3600" b="1" dirty="0" err="1"/>
              <a:t>MediaPipe</a:t>
            </a:r>
            <a:r>
              <a:rPr lang="en-US" sz="3600" dirty="0"/>
              <a:t> can effectively handle </a:t>
            </a:r>
            <a:r>
              <a:rPr lang="en-US" sz="3600" b="1" dirty="0"/>
              <a:t>offline drowsiness detection</a:t>
            </a:r>
            <a:r>
              <a:rPr lang="en-US" sz="3600" dirty="0"/>
              <a:t>, especially in difficult lighting conditions.</a:t>
            </a:r>
          </a:p>
          <a:p>
            <a:pPr marL="457200" indent="-457200">
              <a:buFontTx/>
              <a:buChar char="-"/>
            </a:pPr>
            <a:r>
              <a:rPr lang="en-US" sz="3600" dirty="0"/>
              <a:t>This method contributes to </a:t>
            </a:r>
            <a:r>
              <a:rPr lang="en-US" sz="3600" b="1" dirty="0"/>
              <a:t>driver safety analysis</a:t>
            </a:r>
            <a:r>
              <a:rPr lang="en-US" sz="3600" dirty="0"/>
              <a:t> in non-real-time datasets or image logs.</a:t>
            </a:r>
            <a:r>
              <a:rPr lang="en-US" sz="36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401</Words>
  <Application>Microsoft Office PowerPoint</Application>
  <PresentationFormat>Custom</PresentationFormat>
  <Paragraphs>55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Times New Roman</vt:lpstr>
      <vt:lpstr>Calibri</vt:lpstr>
      <vt:lpstr>Century Gothic Paneuropean</vt:lpstr>
      <vt:lpstr>Open Sans</vt:lpstr>
      <vt:lpstr>Century Gothic Paneuropean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Drowsy Driver detection</dc:title>
  <cp:lastModifiedBy>Mohamed Osama</cp:lastModifiedBy>
  <cp:revision>3</cp:revision>
  <dcterms:created xsi:type="dcterms:W3CDTF">2006-08-16T00:00:00Z</dcterms:created>
  <dcterms:modified xsi:type="dcterms:W3CDTF">2025-06-03T06:07:44Z</dcterms:modified>
  <dc:identifier>DAGpN8z0iFA</dc:identifier>
</cp:coreProperties>
</file>